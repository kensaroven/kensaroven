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70" r:id="rId5"/>
    <p:sldId id="265" r:id="rId6"/>
    <p:sldId id="266" r:id="rId7"/>
    <p:sldId id="267" r:id="rId8"/>
    <p:sldId id="268" r:id="rId9"/>
    <p:sldId id="269" r:id="rId10"/>
    <p:sldId id="272" r:id="rId11"/>
    <p:sldId id="259" r:id="rId12"/>
    <p:sldId id="271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9" r:id="rId27"/>
    <p:sldId id="287" r:id="rId28"/>
    <p:sldId id="288" r:id="rId29"/>
    <p:sldId id="286" r:id="rId30"/>
    <p:sldId id="290" r:id="rId31"/>
    <p:sldId id="291" r:id="rId32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53" autoAdjust="0"/>
    <p:restoredTop sz="80890" autoAdjust="0"/>
  </p:normalViewPr>
  <p:slideViewPr>
    <p:cSldViewPr>
      <p:cViewPr varScale="1">
        <p:scale>
          <a:sx n="66" d="100"/>
          <a:sy n="66" d="100"/>
        </p:scale>
        <p:origin x="21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1EF96AE9-288F-461D-B42B-509A65B9C3DF}" type="datetimeFigureOut">
              <a:rPr lang="en-US" smtClean="0"/>
              <a:t>9/8/2022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0611F3B-3E9F-430F-A792-AA8DD0084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19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611F3B-3E9F-430F-A792-AA8DD0084D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079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222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/>
            </a:lvl1pPr>
            <a:lvl2pPr marL="742950" indent="-285750">
              <a:buClr>
                <a:schemeClr val="accent2"/>
              </a:buClr>
              <a:buSzPct val="95000"/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2265E5E-FF8B-4BC8-91F4-520DD1196F0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907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‹#›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2265E5E-FF8B-4BC8-91F4-520DD1196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495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2265E5E-FF8B-4BC8-91F4-520DD1196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451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‹#›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2265E5E-FF8B-4BC8-91F4-520DD1196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055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‹#›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2265E5E-FF8B-4BC8-91F4-520DD1196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980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‹#›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2265E5E-FF8B-4BC8-91F4-520DD1196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564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2265E5E-FF8B-4BC8-91F4-520DD1196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679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2265E5E-FF8B-4BC8-91F4-520DD1196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541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‹#›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2265E5E-FF8B-4BC8-91F4-520DD1196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‹#›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2265E5E-FF8B-4BC8-91F4-520DD1196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773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912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tat.columbia.edu/~gelman/arm/missing.pdf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43200"/>
            <a:ext cx="7772400" cy="1089025"/>
          </a:xfrm>
        </p:spPr>
        <p:txBody>
          <a:bodyPr>
            <a:noAutofit/>
          </a:bodyPr>
          <a:lstStyle/>
          <a:p>
            <a:br>
              <a:rPr lang="en-US" sz="4800" b="1" dirty="0">
                <a:solidFill>
                  <a:srgbClr val="C00000"/>
                </a:solidFill>
              </a:rPr>
            </a:br>
            <a:r>
              <a:rPr lang="en-US" sz="5400" b="1" dirty="0">
                <a:solidFill>
                  <a:srgbClr val="C00000"/>
                </a:solidFill>
              </a:rPr>
              <a:t>Group Assignment</a:t>
            </a:r>
            <a:br>
              <a:rPr lang="en-US" sz="4800" b="1" dirty="0">
                <a:solidFill>
                  <a:srgbClr val="C00000"/>
                </a:solidFill>
              </a:rPr>
            </a:br>
            <a:br>
              <a:rPr lang="en-US" sz="4800" b="1" dirty="0">
                <a:solidFill>
                  <a:srgbClr val="C00000"/>
                </a:solidFill>
              </a:rPr>
            </a:br>
            <a:r>
              <a:rPr lang="en-US" sz="3200" b="1" dirty="0">
                <a:solidFill>
                  <a:srgbClr val="002060"/>
                </a:solidFill>
              </a:rPr>
              <a:t>RSM8502 – Data-Based Decision Making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850498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2172"/>
            <a:ext cx="8229600" cy="1143000"/>
          </a:xfrm>
        </p:spPr>
        <p:txBody>
          <a:bodyPr/>
          <a:lstStyle/>
          <a:p>
            <a:r>
              <a:rPr lang="en-US" dirty="0"/>
              <a:t>The Story of DT Bank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5E5E-FF8B-4BC8-91F4-520DD1196F0D}" type="slidenum">
              <a:rPr lang="en-US" smtClean="0"/>
              <a:t>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DT Bank is one of the leading banks in Canada</a:t>
            </a:r>
          </a:p>
          <a:p>
            <a:r>
              <a:rPr lang="en-US" dirty="0"/>
              <a:t>Recent campaign to increase its revenue from selling fixed-term deposits</a:t>
            </a:r>
          </a:p>
          <a:p>
            <a:r>
              <a:rPr lang="en-US" dirty="0"/>
              <a:t>The campaign is based on direct contact via outbound sales calls</a:t>
            </a:r>
          </a:p>
          <a:p>
            <a:r>
              <a:rPr lang="en-US" dirty="0"/>
              <a:t>For every call, the bank has collected all relevant </a:t>
            </a:r>
            <a:r>
              <a:rPr lang="en-US" b="1" dirty="0"/>
              <a:t>client data </a:t>
            </a:r>
            <a:r>
              <a:rPr lang="en-US" dirty="0"/>
              <a:t>associated with the call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913254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2172"/>
            <a:ext cx="8229600" cy="1143000"/>
          </a:xfrm>
        </p:spPr>
        <p:txBody>
          <a:bodyPr/>
          <a:lstStyle/>
          <a:p>
            <a:r>
              <a:rPr lang="en-US" dirty="0"/>
              <a:t>Jonah the Consultant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5E5E-FF8B-4BC8-91F4-520DD1196F0D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You are a data science expert hired by DT Bank to analyze the success of the campaign and to develop a recommender system that uses a suitable prediction model </a:t>
            </a:r>
          </a:p>
          <a:p>
            <a:r>
              <a:rPr lang="en-US" dirty="0"/>
              <a:t>The description of the dataset that you will use for your analysis appears in Appendix A 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015972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819400"/>
            <a:ext cx="8229600" cy="1143000"/>
          </a:xfrm>
        </p:spPr>
        <p:txBody>
          <a:bodyPr/>
          <a:lstStyle/>
          <a:p>
            <a:r>
              <a:rPr lang="en-US" dirty="0"/>
              <a:t>The Data (Appendix A)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5E5E-FF8B-4BC8-91F4-520DD1196F0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345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1143000"/>
          </a:xfrm>
        </p:spPr>
        <p:txBody>
          <a:bodyPr/>
          <a:lstStyle/>
          <a:p>
            <a:r>
              <a:rPr lang="en-US" dirty="0"/>
              <a:t>Data Overview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5E5E-FF8B-4BC8-91F4-520DD1196F0D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4572" y="1371600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dirty="0"/>
              <a:t>The dataset is stored in the file bank-additional-full.csv - ordered by date </a:t>
            </a:r>
          </a:p>
          <a:p>
            <a:r>
              <a:rPr lang="en-US" sz="2800" dirty="0"/>
              <a:t>It comprises outbound call information </a:t>
            </a:r>
          </a:p>
          <a:p>
            <a:r>
              <a:rPr lang="en-US" sz="2800" dirty="0"/>
              <a:t>The number of instances is 41188 with each record having 20 input attributes (covariates, features, predictors) and a (binary) output variable (prediction target, outcome)</a:t>
            </a:r>
          </a:p>
          <a:p>
            <a:endParaRPr lang="he-IL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718149"/>
            <a:ext cx="7845972" cy="140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834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1143000"/>
          </a:xfrm>
        </p:spPr>
        <p:txBody>
          <a:bodyPr/>
          <a:lstStyle/>
          <a:p>
            <a:r>
              <a:rPr lang="en-US" dirty="0"/>
              <a:t>Attributes: Group 1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5E5E-FF8B-4BC8-91F4-520DD1196F0D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33400" y="1830387"/>
            <a:ext cx="8229600" cy="452596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General input attributes: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age (numeric)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job - type of job (categorical: "admin.","blue-collar","entrepreneur","housemaid","management","retired","self-employed","services","student","technician","unemployed","unknown")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marital : marital status (categorical: "</a:t>
            </a:r>
            <a:r>
              <a:rPr lang="en-US" dirty="0" err="1"/>
              <a:t>divorced","married","single","unknown</a:t>
            </a:r>
            <a:r>
              <a:rPr lang="en-US" dirty="0"/>
              <a:t>"; note: "divorced" means divorced or widowed)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education (categorical: "basic.4y","basic.6y","basic.9y","high.school","illiterate","professional.course","university.degree","unknown")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default: has credit in default? (categorical: "</a:t>
            </a:r>
            <a:r>
              <a:rPr lang="en-US" dirty="0" err="1"/>
              <a:t>no","yes","unknown</a:t>
            </a:r>
            <a:r>
              <a:rPr lang="en-US" dirty="0"/>
              <a:t>")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housing: has housing loan? (categorical: "</a:t>
            </a:r>
            <a:r>
              <a:rPr lang="en-US" dirty="0" err="1"/>
              <a:t>no","yes","unknown</a:t>
            </a:r>
            <a:r>
              <a:rPr lang="en-US" dirty="0"/>
              <a:t>")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loan: has personal loan? (categorical: "</a:t>
            </a:r>
            <a:r>
              <a:rPr lang="en-US" dirty="0" err="1"/>
              <a:t>no","yes","unknown</a:t>
            </a:r>
            <a:r>
              <a:rPr lang="en-US" dirty="0"/>
              <a:t>")</a:t>
            </a:r>
          </a:p>
          <a:p>
            <a:endParaRPr lang="he-IL" sz="2800" dirty="0"/>
          </a:p>
        </p:txBody>
      </p:sp>
    </p:spTree>
    <p:extLst>
      <p:ext uri="{BB962C8B-B14F-4D97-AF65-F5344CB8AC3E}">
        <p14:creationId xmlns:p14="http://schemas.microsoft.com/office/powerpoint/2010/main" val="3977616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1143000"/>
          </a:xfrm>
        </p:spPr>
        <p:txBody>
          <a:bodyPr/>
          <a:lstStyle/>
          <a:p>
            <a:r>
              <a:rPr lang="en-US" dirty="0"/>
              <a:t>Attributes: Group 2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5E5E-FF8B-4BC8-91F4-520DD1196F0D}" type="slidenum">
              <a:rPr lang="en-US" smtClean="0"/>
              <a:t>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33400" y="1830387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Input attributes related to the last contact of the current campaign: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contact: contact communication type (categorical: "</a:t>
            </a:r>
            <a:r>
              <a:rPr lang="en-US" dirty="0" err="1"/>
              <a:t>cellular","telephone</a:t>
            </a:r>
            <a:r>
              <a:rPr lang="en-US" dirty="0"/>
              <a:t>")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month: last contact month of year (categorical: "</a:t>
            </a:r>
            <a:r>
              <a:rPr lang="en-US" dirty="0" err="1"/>
              <a:t>jan</a:t>
            </a:r>
            <a:r>
              <a:rPr lang="en-US" dirty="0"/>
              <a:t>", "</a:t>
            </a:r>
            <a:r>
              <a:rPr lang="en-US" dirty="0" err="1"/>
              <a:t>feb</a:t>
            </a:r>
            <a:r>
              <a:rPr lang="en-US" dirty="0"/>
              <a:t>", "mar", ..., "</a:t>
            </a:r>
            <a:r>
              <a:rPr lang="en-US" dirty="0" err="1"/>
              <a:t>nov</a:t>
            </a:r>
            <a:r>
              <a:rPr lang="en-US" dirty="0"/>
              <a:t>", "</a:t>
            </a:r>
            <a:r>
              <a:rPr lang="en-US" dirty="0" err="1"/>
              <a:t>dec</a:t>
            </a:r>
            <a:r>
              <a:rPr lang="en-US" dirty="0"/>
              <a:t>")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err="1"/>
              <a:t>day_of_week</a:t>
            </a:r>
            <a:r>
              <a:rPr lang="en-US" dirty="0"/>
              <a:t>: last contact day of the week (categorical: "mon","</a:t>
            </a:r>
            <a:r>
              <a:rPr lang="en-US" dirty="0" err="1"/>
              <a:t>tue</a:t>
            </a:r>
            <a:r>
              <a:rPr lang="en-US" dirty="0"/>
              <a:t>","wed","</a:t>
            </a:r>
            <a:r>
              <a:rPr lang="en-US" dirty="0" err="1"/>
              <a:t>thu</a:t>
            </a:r>
            <a:r>
              <a:rPr lang="en-US" dirty="0"/>
              <a:t>","</a:t>
            </a:r>
            <a:r>
              <a:rPr lang="en-US" dirty="0" err="1"/>
              <a:t>fri</a:t>
            </a:r>
            <a:r>
              <a:rPr lang="en-US" dirty="0"/>
              <a:t>")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duration: last contact duration, in seconds (numeric). Important note: the duration variable is unknown before the sales call is finished</a:t>
            </a:r>
          </a:p>
          <a:p>
            <a:endParaRPr lang="he-IL" sz="2800" dirty="0"/>
          </a:p>
        </p:txBody>
      </p:sp>
    </p:spTree>
    <p:extLst>
      <p:ext uri="{BB962C8B-B14F-4D97-AF65-F5344CB8AC3E}">
        <p14:creationId xmlns:p14="http://schemas.microsoft.com/office/powerpoint/2010/main" val="1662500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1143000"/>
          </a:xfrm>
        </p:spPr>
        <p:txBody>
          <a:bodyPr/>
          <a:lstStyle/>
          <a:p>
            <a:r>
              <a:rPr lang="en-US" dirty="0"/>
              <a:t>Attributes: Group 3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5E5E-FF8B-4BC8-91F4-520DD1196F0D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33400" y="1830387"/>
            <a:ext cx="8229600" cy="452596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Historical attributes (campaign related):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campaign: number of contacts performed during this campaign and for this client (numeric, includes last contact)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err="1"/>
              <a:t>pdays</a:t>
            </a:r>
            <a:r>
              <a:rPr lang="en-US" dirty="0"/>
              <a:t>: number of days that passed by after the client was last contacted from a previous campaign (numeric; 999 means client was not previously contacted)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previous: number of contacts performed before this campaign and for this client (numeric)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err="1"/>
              <a:t>poutcome</a:t>
            </a:r>
            <a:r>
              <a:rPr lang="en-US" dirty="0"/>
              <a:t>: outcome of the previous marketing campaign (categorical: "</a:t>
            </a:r>
            <a:r>
              <a:rPr lang="en-US" dirty="0" err="1"/>
              <a:t>failure","nonexistent","success</a:t>
            </a:r>
            <a:r>
              <a:rPr lang="en-US" dirty="0"/>
              <a:t>")</a:t>
            </a:r>
          </a:p>
          <a:p>
            <a:endParaRPr lang="he-IL" sz="2800" dirty="0"/>
          </a:p>
        </p:txBody>
      </p:sp>
    </p:spTree>
    <p:extLst>
      <p:ext uri="{BB962C8B-B14F-4D97-AF65-F5344CB8AC3E}">
        <p14:creationId xmlns:p14="http://schemas.microsoft.com/office/powerpoint/2010/main" val="3654162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Attributes: Group 4 (not available at first)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5E5E-FF8B-4BC8-91F4-520DD1196F0D}" type="slidenum">
              <a:rPr lang="en-US" smtClean="0"/>
              <a:t>9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33400" y="1830387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Socio-economic context variables: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err="1"/>
              <a:t>emp.var.rate</a:t>
            </a:r>
            <a:r>
              <a:rPr lang="en-US" dirty="0"/>
              <a:t>: employment variation rate - quarterly indicator (numeric)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err="1"/>
              <a:t>cons.price.idx</a:t>
            </a:r>
            <a:r>
              <a:rPr lang="en-US" dirty="0"/>
              <a:t>: consumer price index - monthly indicator (numeric)    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err="1"/>
              <a:t>cons.conf.idx</a:t>
            </a:r>
            <a:r>
              <a:rPr lang="en-US" dirty="0"/>
              <a:t>: consumer confidence index - monthly indicator (numeric)    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euribor3m: </a:t>
            </a:r>
            <a:r>
              <a:rPr lang="en-US" dirty="0" err="1"/>
              <a:t>euribor</a:t>
            </a:r>
            <a:r>
              <a:rPr lang="en-US" dirty="0"/>
              <a:t> 3 month rate - daily indicator (numeric)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err="1"/>
              <a:t>nr.employed</a:t>
            </a:r>
            <a:r>
              <a:rPr lang="en-US" dirty="0"/>
              <a:t>: number of employees - quarterly indicator (numeric)</a:t>
            </a:r>
          </a:p>
          <a:p>
            <a:endParaRPr lang="he-IL" sz="2800" dirty="0"/>
          </a:p>
        </p:txBody>
      </p:sp>
    </p:spTree>
    <p:extLst>
      <p:ext uri="{BB962C8B-B14F-4D97-AF65-F5344CB8AC3E}">
        <p14:creationId xmlns:p14="http://schemas.microsoft.com/office/powerpoint/2010/main" val="2640613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Outcome y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5E5E-FF8B-4BC8-91F4-520DD1196F0D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33400" y="1830387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Binary variable that states whether a sale has been made</a:t>
            </a:r>
          </a:p>
          <a:p>
            <a:endParaRPr lang="he-IL" sz="2800" dirty="0"/>
          </a:p>
        </p:txBody>
      </p:sp>
    </p:spTree>
    <p:extLst>
      <p:ext uri="{BB962C8B-B14F-4D97-AF65-F5344CB8AC3E}">
        <p14:creationId xmlns:p14="http://schemas.microsoft.com/office/powerpoint/2010/main" val="892178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819400"/>
            <a:ext cx="8229600" cy="1143000"/>
          </a:xfrm>
        </p:spPr>
        <p:txBody>
          <a:bodyPr/>
          <a:lstStyle/>
          <a:p>
            <a:r>
              <a:rPr lang="en-US" dirty="0"/>
              <a:t>Step 1: Exploratory Data Analysis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5E5E-FF8B-4BC8-91F4-520DD1196F0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039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2172"/>
            <a:ext cx="8229600" cy="1143000"/>
          </a:xfrm>
        </p:spPr>
        <p:txBody>
          <a:bodyPr/>
          <a:lstStyle/>
          <a:p>
            <a:r>
              <a:rPr lang="en-US" dirty="0"/>
              <a:t>Question 1a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5E5E-FF8B-4BC8-91F4-520DD1196F0D}" type="slidenum">
              <a:rPr lang="en-US" smtClean="0"/>
              <a:t>12</a:t>
            </a:fld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Load the data into your favorite data analysis software </a:t>
            </a:r>
          </a:p>
          <a:p>
            <a:r>
              <a:rPr lang="en-US" dirty="0"/>
              <a:t>Check for linear correlations between the input variables </a:t>
            </a:r>
          </a:p>
          <a:p>
            <a:r>
              <a:rPr lang="en-US" dirty="0"/>
              <a:t>Do you detect variables that are collinear (i.e., have a strong linear correlation between each other)?</a:t>
            </a:r>
          </a:p>
          <a:p>
            <a:r>
              <a:rPr lang="en-US" dirty="0"/>
              <a:t>Note: relevant to numeric variables only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30430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2172"/>
            <a:ext cx="8229600" cy="1143000"/>
          </a:xfrm>
        </p:spPr>
        <p:txBody>
          <a:bodyPr/>
          <a:lstStyle/>
          <a:p>
            <a:r>
              <a:rPr lang="en-US" dirty="0"/>
              <a:t>Question 1a: Example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5E5E-FF8B-4BC8-91F4-520DD1196F0D}" type="slidenum">
              <a:rPr lang="en-US" smtClean="0"/>
              <a:t>13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b="4900"/>
          <a:stretch/>
        </p:blipFill>
        <p:spPr>
          <a:xfrm>
            <a:off x="381000" y="1752600"/>
            <a:ext cx="8629650" cy="1447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3307569"/>
            <a:ext cx="3886200" cy="341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191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2172"/>
            <a:ext cx="8229600" cy="1143000"/>
          </a:xfrm>
        </p:spPr>
        <p:txBody>
          <a:bodyPr/>
          <a:lstStyle/>
          <a:p>
            <a:r>
              <a:rPr lang="en-US" dirty="0"/>
              <a:t>Question 1b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5E5E-FF8B-4BC8-91F4-520DD1196F0D}" type="slidenum">
              <a:rPr lang="en-US" smtClean="0"/>
              <a:t>14</a:t>
            </a:fld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US" dirty="0"/>
              <a:t>Some of the variables exhibit missing values (`unknown' values). Propose at least two ways to handle missing values and apply one of your suggestions to deal with missing data.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You need to do a little bit of research on how to handle this: substitute the average value in for the missing value, drop the data point, etc…. You can also research this yourself by reading: </a:t>
            </a:r>
            <a:r>
              <a:rPr lang="en-US" dirty="0">
                <a:hlinkClick r:id="rId2"/>
              </a:rPr>
              <a:t>http://www.stat.columbia.edu/~gelman/arm/missing.pdf</a:t>
            </a:r>
            <a:endParaRPr lang="en-US" dirty="0"/>
          </a:p>
          <a:p>
            <a:r>
              <a:rPr lang="en-US" dirty="0"/>
              <a:t>Numeric vs. categorical?</a:t>
            </a:r>
          </a:p>
        </p:txBody>
      </p:sp>
    </p:spTree>
    <p:extLst>
      <p:ext uri="{BB962C8B-B14F-4D97-AF65-F5344CB8AC3E}">
        <p14:creationId xmlns:p14="http://schemas.microsoft.com/office/powerpoint/2010/main" val="2973342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2172"/>
            <a:ext cx="8229600" cy="1143000"/>
          </a:xfrm>
        </p:spPr>
        <p:txBody>
          <a:bodyPr/>
          <a:lstStyle/>
          <a:p>
            <a:r>
              <a:rPr lang="en-US" dirty="0"/>
              <a:t>Question 1c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5E5E-FF8B-4BC8-91F4-520DD1196F0D}" type="slidenum">
              <a:rPr lang="en-US" smtClean="0"/>
              <a:t>15</a:t>
            </a:fld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457200" y="1671938"/>
            <a:ext cx="8229600" cy="452596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Use cross-tabulation analysis to test the dependency of different variables on the target variable (y) </a:t>
            </a:r>
          </a:p>
          <a:p>
            <a:pPr lvl="0"/>
            <a:r>
              <a:rPr lang="en-US" dirty="0"/>
              <a:t>Which of the variables seem to influence the target variable?</a:t>
            </a:r>
          </a:p>
          <a:p>
            <a:pPr lvl="0"/>
            <a:r>
              <a:rPr lang="en-US" b="1" dirty="0"/>
              <a:t>Use categorical only</a:t>
            </a:r>
          </a:p>
        </p:txBody>
      </p:sp>
    </p:spTree>
    <p:extLst>
      <p:ext uri="{BB962C8B-B14F-4D97-AF65-F5344CB8AC3E}">
        <p14:creationId xmlns:p14="http://schemas.microsoft.com/office/powerpoint/2010/main" val="3681739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2172"/>
            <a:ext cx="8229600" cy="1143000"/>
          </a:xfrm>
        </p:spPr>
        <p:txBody>
          <a:bodyPr/>
          <a:lstStyle/>
          <a:p>
            <a:r>
              <a:rPr lang="en-US" dirty="0"/>
              <a:t>Question 1c: Example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5E5E-FF8B-4BC8-91F4-520DD1196F0D}" type="slidenum">
              <a:rPr lang="en-US" smtClean="0"/>
              <a:t>16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76400"/>
            <a:ext cx="6375400" cy="1371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531" y="4038600"/>
            <a:ext cx="5791200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097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2172"/>
            <a:ext cx="8229600" cy="1143000"/>
          </a:xfrm>
        </p:spPr>
        <p:txBody>
          <a:bodyPr/>
          <a:lstStyle/>
          <a:p>
            <a:r>
              <a:rPr lang="en-US" dirty="0"/>
              <a:t>Question 1d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5E5E-FF8B-4BC8-91F4-520DD1196F0D}" type="slidenum">
              <a:rPr lang="en-US" smtClean="0"/>
              <a:t>17</a:t>
            </a:fld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457200" y="1671938"/>
            <a:ext cx="8229600" cy="452596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Which of the three groups of input variables (Group1-Group3) do you find the most useful in explaining y based on your analysis so far?</a:t>
            </a:r>
          </a:p>
          <a:p>
            <a:pPr lvl="0"/>
            <a:r>
              <a:rPr lang="en-US" dirty="0"/>
              <a:t>Was the campaign successful?</a:t>
            </a:r>
          </a:p>
          <a:p>
            <a:pPr lvl="0"/>
            <a:endParaRPr lang="en-US" b="1" dirty="0"/>
          </a:p>
          <a:p>
            <a:pPr lvl="0"/>
            <a:r>
              <a:rPr lang="en-US" b="1" dirty="0"/>
              <a:t>Use the results of your cross-tab analysis + analyze the prior on the values of y</a:t>
            </a:r>
          </a:p>
        </p:txBody>
      </p:sp>
    </p:spTree>
    <p:extLst>
      <p:ext uri="{BB962C8B-B14F-4D97-AF65-F5344CB8AC3E}">
        <p14:creationId xmlns:p14="http://schemas.microsoft.com/office/powerpoint/2010/main" val="1614075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819400"/>
            <a:ext cx="8229600" cy="1143000"/>
          </a:xfrm>
        </p:spPr>
        <p:txBody>
          <a:bodyPr/>
          <a:lstStyle/>
          <a:p>
            <a:r>
              <a:rPr lang="en-US" dirty="0"/>
              <a:t>Step 2: Predictive Modeling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5E5E-FF8B-4BC8-91F4-520DD1196F0D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3291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/>
              <a:t>Predictive Modeling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5E5E-FF8B-4BC8-91F4-520DD1196F0D}" type="slidenum">
              <a:rPr lang="en-US" smtClean="0"/>
              <a:t>19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830387"/>
            <a:ext cx="8229600" cy="452596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Basis for the recommender system that the bank desires – prior to call, one wants to know the odds for success (and perhaps not call if the odds are low)</a:t>
            </a:r>
          </a:p>
          <a:p>
            <a:pPr lvl="0"/>
            <a:r>
              <a:rPr lang="en-US" dirty="0"/>
              <a:t>Sales representative’s time is money</a:t>
            </a:r>
          </a:p>
          <a:p>
            <a:pPr lvl="0"/>
            <a:r>
              <a:rPr lang="en-US" dirty="0"/>
              <a:t>Beyond prediction: can be useful to answer 1d more thoroughly – which of the variables explains successful calls?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25469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2172"/>
            <a:ext cx="8229600" cy="1143000"/>
          </a:xfrm>
        </p:spPr>
        <p:txBody>
          <a:bodyPr/>
          <a:lstStyle/>
          <a:p>
            <a:r>
              <a:rPr lang="en-US" dirty="0"/>
              <a:t>Question 2a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5E5E-FF8B-4BC8-91F4-520DD1196F0D}" type="slidenum">
              <a:rPr lang="en-US" smtClean="0"/>
              <a:t>20</a:t>
            </a:fld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457200" y="1671938"/>
            <a:ext cx="8229600" cy="4525963"/>
          </a:xfrm>
        </p:spPr>
        <p:txBody>
          <a:bodyPr>
            <a:normAutofit lnSpcReduction="10000"/>
          </a:bodyPr>
          <a:lstStyle/>
          <a:p>
            <a:pPr lvl="0"/>
            <a:r>
              <a:rPr lang="en-US" dirty="0"/>
              <a:t>Fit a suitable predictive model (from the models you learned in class) to predict the target variable y </a:t>
            </a:r>
          </a:p>
          <a:p>
            <a:pPr lvl="0"/>
            <a:r>
              <a:rPr lang="en-US" dirty="0"/>
              <a:t>Explain your choice (what model is most suitable? Why?)</a:t>
            </a:r>
          </a:p>
          <a:p>
            <a:r>
              <a:rPr lang="en-US" dirty="0"/>
              <a:t>Note that you are not limited to main effects (you may apply functions to input variables and consider interactions between the variables) </a:t>
            </a:r>
          </a:p>
          <a:p>
            <a:pPr lvl="0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468813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2172"/>
            <a:ext cx="8229600" cy="1143000"/>
          </a:xfrm>
        </p:spPr>
        <p:txBody>
          <a:bodyPr/>
          <a:lstStyle/>
          <a:p>
            <a:r>
              <a:rPr lang="en-US" dirty="0"/>
              <a:t>Question 2a: Applying functions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5E5E-FF8B-4BC8-91F4-520DD1196F0D}" type="slidenum">
              <a:rPr lang="en-US" smtClean="0"/>
              <a:t>21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295400"/>
            <a:ext cx="6786563" cy="4452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905000" y="5747960"/>
            <a:ext cx="6400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 variable could have a quadratic effect on y or the product of two X variables could be significant predictor.</a:t>
            </a:r>
          </a:p>
        </p:txBody>
      </p:sp>
    </p:spTree>
    <p:extLst>
      <p:ext uri="{BB962C8B-B14F-4D97-AF65-F5344CB8AC3E}">
        <p14:creationId xmlns:p14="http://schemas.microsoft.com/office/powerpoint/2010/main" val="665183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2172"/>
            <a:ext cx="8229600" cy="1143000"/>
          </a:xfrm>
        </p:spPr>
        <p:txBody>
          <a:bodyPr/>
          <a:lstStyle/>
          <a:p>
            <a:r>
              <a:rPr lang="en-US" dirty="0"/>
              <a:t>Question 2a: Example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5E5E-FF8B-4BC8-91F4-520DD1196F0D}" type="slidenum">
              <a:rPr lang="en-US" smtClean="0"/>
              <a:t>22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76400"/>
            <a:ext cx="7739063" cy="415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8171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2172"/>
            <a:ext cx="8229600" cy="1143000"/>
          </a:xfrm>
        </p:spPr>
        <p:txBody>
          <a:bodyPr/>
          <a:lstStyle/>
          <a:p>
            <a:r>
              <a:rPr lang="en-US" dirty="0"/>
              <a:t>Question 2b and 2c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5E5E-FF8B-4BC8-91F4-520DD1196F0D}" type="slidenum">
              <a:rPr lang="en-US" smtClean="0"/>
              <a:t>23</a:t>
            </a:fld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457200" y="1671938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Discuss whether using the variable </a:t>
            </a:r>
            <a:r>
              <a:rPr lang="en-US" i="1" dirty="0"/>
              <a:t>duration</a:t>
            </a:r>
            <a:r>
              <a:rPr lang="en-US" dirty="0"/>
              <a:t> as an input variable is a good idea. </a:t>
            </a:r>
          </a:p>
          <a:p>
            <a:pPr lvl="0"/>
            <a:r>
              <a:rPr lang="en-US" dirty="0"/>
              <a:t>Hint: consider the usefulness of the variable in predicting the success of a potential call.</a:t>
            </a:r>
          </a:p>
          <a:p>
            <a:endParaRPr lang="en-US" dirty="0"/>
          </a:p>
          <a:p>
            <a:r>
              <a:rPr lang="en-US" dirty="0"/>
              <a:t>Analyze the output of the model. Is the overall model significant? </a:t>
            </a:r>
          </a:p>
          <a:p>
            <a:r>
              <a:rPr lang="en-US" dirty="0"/>
              <a:t>Which of the variables are most influential? </a:t>
            </a:r>
          </a:p>
          <a:p>
            <a:r>
              <a:rPr lang="en-US" dirty="0"/>
              <a:t>Is this influence statistically significant?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6233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2172"/>
            <a:ext cx="8229600" cy="1143000"/>
          </a:xfrm>
        </p:spPr>
        <p:txBody>
          <a:bodyPr/>
          <a:lstStyle/>
          <a:p>
            <a:r>
              <a:rPr lang="en-US" dirty="0"/>
              <a:t>Question 2d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5E5E-FF8B-4BC8-91F4-520DD1196F0D}" type="slidenum">
              <a:rPr lang="en-US" smtClean="0"/>
              <a:t>24</a:t>
            </a:fld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457200" y="1671938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How can you test the predictive power of your model? </a:t>
            </a:r>
          </a:p>
          <a:p>
            <a:pPr lvl="0"/>
            <a:r>
              <a:rPr lang="en-US" dirty="0"/>
              <a:t>You can look at R-Square and Max-rescaled R-Square and other Pseudo </a:t>
            </a:r>
            <a:r>
              <a:rPr lang="en-US" dirty="0" err="1"/>
              <a:t>Rsquare</a:t>
            </a:r>
            <a:r>
              <a:rPr lang="en-US" dirty="0"/>
              <a:t> like measurements relevant for the type of regression that you have applied</a:t>
            </a:r>
          </a:p>
          <a:p>
            <a:pPr lvl="0"/>
            <a:r>
              <a:rPr lang="en-US" dirty="0"/>
              <a:t>Please look at </a:t>
            </a:r>
            <a:r>
              <a:rPr lang="en-US" b="1" dirty="0"/>
              <a:t>classification tables </a:t>
            </a:r>
            <a:r>
              <a:rPr lang="en-US" dirty="0"/>
              <a:t>- in SAS Studio, under options select classification table and then find the cutoff that delivers the highest percentage of correct hits.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1244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2172"/>
            <a:ext cx="8229600" cy="1143000"/>
          </a:xfrm>
        </p:spPr>
        <p:txBody>
          <a:bodyPr/>
          <a:lstStyle/>
          <a:p>
            <a:r>
              <a:rPr lang="en-US" dirty="0"/>
              <a:t>Question 2d: Classification Table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5E5E-FF8B-4BC8-91F4-520DD1196F0D}" type="slidenum">
              <a:rPr lang="en-US" smtClean="0"/>
              <a:t>25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752600"/>
            <a:ext cx="3627496" cy="121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3421" y="2008257"/>
            <a:ext cx="432237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Threshold = 0.5</a:t>
            </a:r>
          </a:p>
          <a:p>
            <a:r>
              <a:rPr lang="en-US" sz="2000" dirty="0">
                <a:solidFill>
                  <a:srgbClr val="FF0000"/>
                </a:solidFill>
              </a:rPr>
              <a:t>P(Y = TRUE| X) &gt; 0.5 -&gt; yes</a:t>
            </a:r>
          </a:p>
        </p:txBody>
      </p:sp>
      <p:sp>
        <p:nvSpPr>
          <p:cNvPr id="9" name="Rectangle 8"/>
          <p:cNvSpPr/>
          <p:nvPr/>
        </p:nvSpPr>
        <p:spPr>
          <a:xfrm>
            <a:off x="97221" y="3869920"/>
            <a:ext cx="432237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Threshold = 0.7</a:t>
            </a:r>
          </a:p>
          <a:p>
            <a:r>
              <a:rPr lang="en-US" sz="2000" dirty="0">
                <a:solidFill>
                  <a:srgbClr val="FF0000"/>
                </a:solidFill>
              </a:rPr>
              <a:t>P(Y = TRUE| X) &gt; 0.7 -&gt; yes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3227457"/>
            <a:ext cx="3681562" cy="15569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73421" y="5537340"/>
            <a:ext cx="432237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Threshold = 0.3</a:t>
            </a:r>
          </a:p>
          <a:p>
            <a:r>
              <a:rPr lang="en-US" sz="2000" dirty="0">
                <a:solidFill>
                  <a:srgbClr val="FF0000"/>
                </a:solidFill>
              </a:rPr>
              <a:t>P(Y = TRUE| X) &gt; 0.3 -&gt; yes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5039" y="4877733"/>
            <a:ext cx="3740357" cy="131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8146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Receiver operating characteristic (ROC) Curve</a:t>
            </a:r>
            <a:endParaRPr lang="he-IL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5E5E-FF8B-4BC8-91F4-520DD1196F0D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" y="1676400"/>
            <a:ext cx="8867775" cy="45193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24000" y="6013589"/>
            <a:ext cx="432237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Helps to select the optimal threshold (data specific)</a:t>
            </a:r>
          </a:p>
        </p:txBody>
      </p:sp>
    </p:spTree>
    <p:extLst>
      <p:ext uri="{BB962C8B-B14F-4D97-AF65-F5344CB8AC3E}">
        <p14:creationId xmlns:p14="http://schemas.microsoft.com/office/powerpoint/2010/main" val="21784617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819400"/>
            <a:ext cx="8229600" cy="1143000"/>
          </a:xfrm>
        </p:spPr>
        <p:txBody>
          <a:bodyPr/>
          <a:lstStyle/>
          <a:p>
            <a:r>
              <a:rPr lang="en-US" dirty="0"/>
              <a:t>Step 3: Sensitivity Analysis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5E5E-FF8B-4BC8-91F4-520DD1196F0D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7981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2172"/>
            <a:ext cx="8229600" cy="1143000"/>
          </a:xfrm>
        </p:spPr>
        <p:txBody>
          <a:bodyPr/>
          <a:lstStyle/>
          <a:p>
            <a:r>
              <a:rPr lang="en-US" dirty="0"/>
              <a:t>Sheila the Assistant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5E5E-FF8B-4BC8-91F4-520DD1196F0D}" type="slidenum">
              <a:rPr lang="en-US" smtClean="0"/>
              <a:t>28</a:t>
            </a:fld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Your assistant, Sheila </a:t>
            </a:r>
            <a:r>
              <a:rPr lang="en-US" dirty="0" err="1"/>
              <a:t>Shortsight</a:t>
            </a:r>
            <a:r>
              <a:rPr lang="en-US" dirty="0"/>
              <a:t>, is convinced that collecting socio-economic data about the bank's clients, which corresponds to the variables in </a:t>
            </a:r>
            <a:r>
              <a:rPr lang="en-US" b="1" dirty="0"/>
              <a:t>Group 4</a:t>
            </a:r>
            <a:r>
              <a:rPr lang="en-US" dirty="0"/>
              <a:t> of the dataset</a:t>
            </a:r>
          </a:p>
          <a:p>
            <a:r>
              <a:rPr lang="en-US" dirty="0"/>
              <a:t>The price of the additional information is $5000. You know that DT Bank are willing to pay $1000$ dollars for every % of improvement beyond the model that you suggested in Part 2a. </a:t>
            </a:r>
          </a:p>
        </p:txBody>
      </p:sp>
    </p:spTree>
    <p:extLst>
      <p:ext uri="{BB962C8B-B14F-4D97-AF65-F5344CB8AC3E}">
        <p14:creationId xmlns:p14="http://schemas.microsoft.com/office/powerpoint/2010/main" val="32204659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2172"/>
            <a:ext cx="8229600" cy="1143000"/>
          </a:xfrm>
        </p:spPr>
        <p:txBody>
          <a:bodyPr/>
          <a:lstStyle/>
          <a:p>
            <a:r>
              <a:rPr lang="en-US" dirty="0"/>
              <a:t>Question 3a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5E5E-FF8B-4BC8-91F4-520DD1196F0D}" type="slidenum">
              <a:rPr lang="en-US" smtClean="0"/>
              <a:t>29</a:t>
            </a:fld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457200" y="1671938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Perform an analysis whether it is worth purchasing the extra data. </a:t>
            </a:r>
          </a:p>
          <a:p>
            <a:pPr lvl="0"/>
            <a:r>
              <a:rPr lang="en-US" dirty="0"/>
              <a:t>Prove your claims using two predictive models (one that uses only the first 3 groups of variables and one that uses all 4 groups)</a:t>
            </a:r>
          </a:p>
          <a:p>
            <a:pPr marL="0" lvl="0" indent="0">
              <a:buNone/>
            </a:pPr>
            <a:endParaRPr lang="en-US" dirty="0"/>
          </a:p>
          <a:p>
            <a:r>
              <a:rPr lang="en-US" i="1" dirty="0"/>
              <a:t>Think back to the classification table (you obtain as output in SAS) and compare the highest percentage of correct hits that you can achieve with each model. </a:t>
            </a: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2597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2172"/>
            <a:ext cx="8229600" cy="1143000"/>
          </a:xfrm>
        </p:spPr>
        <p:txBody>
          <a:bodyPr/>
          <a:lstStyle/>
          <a:p>
            <a:r>
              <a:rPr lang="en-US" dirty="0"/>
              <a:t>Question 3b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5E5E-FF8B-4BC8-91F4-520DD1196F0D}" type="slidenum">
              <a:rPr lang="en-US" smtClean="0"/>
              <a:t>30</a:t>
            </a:fld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457200" y="1671938"/>
            <a:ext cx="8229600" cy="452596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Perform a cross-tab analysis to Group 4 variables in order to explain differences in the target variable values as function of these input variables. Explain your findings.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Similar to Question 1c – but now for the new variables</a:t>
            </a:r>
          </a:p>
        </p:txBody>
      </p:sp>
    </p:spTree>
    <p:extLst>
      <p:ext uri="{BB962C8B-B14F-4D97-AF65-F5344CB8AC3E}">
        <p14:creationId xmlns:p14="http://schemas.microsoft.com/office/powerpoint/2010/main" val="32479538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819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6000" dirty="0"/>
              <a:t>Thank you</a:t>
            </a:r>
            <a:br>
              <a:rPr lang="en-US" sz="6000" dirty="0"/>
            </a:br>
            <a:br>
              <a:rPr lang="en-US" dirty="0"/>
            </a:br>
            <a:r>
              <a:rPr lang="en-US" dirty="0">
                <a:solidFill>
                  <a:srgbClr val="002060"/>
                </a:solidFill>
              </a:rPr>
              <a:t>For questions: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sz="4000" dirty="0" err="1">
                <a:solidFill>
                  <a:srgbClr val="002060"/>
                </a:solidFill>
              </a:rPr>
              <a:t>Vivek.Nandur@Rotman.Utoronto.Ca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5E5E-FF8B-4BC8-91F4-520DD1196F0D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72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4799</TotalTime>
  <Words>1443</Words>
  <Application>Microsoft Office PowerPoint</Application>
  <PresentationFormat>On-screen Show (4:3)</PresentationFormat>
  <Paragraphs>143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Courier New</vt:lpstr>
      <vt:lpstr>Wingdings</vt:lpstr>
      <vt:lpstr>Office Theme</vt:lpstr>
      <vt:lpstr> Group Assignment  RSM8502 – Data-Based Decision Making</vt:lpstr>
      <vt:lpstr>The Story of DT Bank</vt:lpstr>
      <vt:lpstr>Jonah the Consultant</vt:lpstr>
      <vt:lpstr>The Data (Appendix A)</vt:lpstr>
      <vt:lpstr>Data Overview</vt:lpstr>
      <vt:lpstr>Attributes: Group 1</vt:lpstr>
      <vt:lpstr>Attributes: Group 2</vt:lpstr>
      <vt:lpstr>Attributes: Group 3</vt:lpstr>
      <vt:lpstr>Attributes: Group 4 (not available at first)</vt:lpstr>
      <vt:lpstr>Outcome y</vt:lpstr>
      <vt:lpstr>Step 1: Exploratory Data Analysis</vt:lpstr>
      <vt:lpstr>Question 1a</vt:lpstr>
      <vt:lpstr>Question 1a: Example</vt:lpstr>
      <vt:lpstr>Question 1b</vt:lpstr>
      <vt:lpstr>Question 1c</vt:lpstr>
      <vt:lpstr>Question 1c: Example</vt:lpstr>
      <vt:lpstr>Question 1d</vt:lpstr>
      <vt:lpstr>Step 2: Predictive Modeling</vt:lpstr>
      <vt:lpstr>Predictive Modeling</vt:lpstr>
      <vt:lpstr>Question 2a</vt:lpstr>
      <vt:lpstr>Question 2a: Applying functions</vt:lpstr>
      <vt:lpstr>Question 2a: Example</vt:lpstr>
      <vt:lpstr>Question 2b and 2c</vt:lpstr>
      <vt:lpstr>Question 2d</vt:lpstr>
      <vt:lpstr>Question 2d: Classification Table</vt:lpstr>
      <vt:lpstr>Receiver operating characteristic (ROC) Curve</vt:lpstr>
      <vt:lpstr>Step 3: Sensitivity Analysis</vt:lpstr>
      <vt:lpstr>Sheila the Assistant</vt:lpstr>
      <vt:lpstr>Question 3a</vt:lpstr>
      <vt:lpstr>Question 3b</vt:lpstr>
      <vt:lpstr>Thank you  For questions: Vivek.Nandur@Rotman.Utoronto.Ca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Analysis and Simulation  in Process Mining</dc:title>
  <dc:creator>Mandelbaum</dc:creator>
  <cp:lastModifiedBy>Ken Saroven</cp:lastModifiedBy>
  <cp:revision>1434</cp:revision>
  <cp:lastPrinted>2017-03-19T10:15:56Z</cp:lastPrinted>
  <dcterms:created xsi:type="dcterms:W3CDTF">2014-03-03T17:52:05Z</dcterms:created>
  <dcterms:modified xsi:type="dcterms:W3CDTF">2022-09-08T15:03:21Z</dcterms:modified>
</cp:coreProperties>
</file>